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</a:defRPr>
            </a:pPr>
            <a:r>
              <a:t>SmartHome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Application de Domotique Intelligente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Python Tornado • PostgreSQL • WebSocket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Architecture REST API complète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Stack Technologique:</a:t>
            </a:r>
          </a:p>
          <a:p>
            <a:pPr>
              <a:spcAft>
                <a:spcPts val="800"/>
              </a:spcAft>
              <a:defRPr sz="1600"/>
            </a:pPr>
            <a:r>
              <a:t>    </a:t>
            </a:r>
          </a:p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Backend:</a:t>
            </a:r>
          </a:p>
          <a:p>
            <a:pPr lvl="1">
              <a:spcAft>
                <a:spcPts val="800"/>
              </a:spcAft>
              <a:defRPr sz="1600"/>
            </a:pPr>
            <a:r>
              <a:t>• Python Tornado 6.4+ (async/await natif)</a:t>
            </a:r>
          </a:p>
          <a:p>
            <a:pPr lvl="1">
              <a:spcAft>
                <a:spcPts val="800"/>
              </a:spcAft>
              <a:defRPr sz="1600"/>
            </a:pPr>
            <a:r>
              <a:t>• SQLAlchemy 2.0 (ORM asynchrone)</a:t>
            </a:r>
          </a:p>
          <a:p>
            <a:pPr lvl="1">
              <a:spcAft>
                <a:spcPts val="800"/>
              </a:spcAft>
              <a:defRPr sz="1600"/>
            </a:pPr>
            <a:r>
              <a:t>• PostgreSQL 15+ avec asyncpg</a:t>
            </a:r>
          </a:p>
          <a:p>
            <a:pPr lvl="1">
              <a:spcAft>
                <a:spcPts val="800"/>
              </a:spcAft>
              <a:defRPr sz="1600"/>
            </a:pPr>
            <a:r>
              <a:t>• bcrypt pour hachage sécurisé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Frontend:</a:t>
            </a:r>
          </a:p>
          <a:p>
            <a:pPr lvl="1">
              <a:spcAft>
                <a:spcPts val="800"/>
              </a:spcAft>
              <a:defRPr sz="1600"/>
            </a:pPr>
            <a:r>
              <a:t>• HTML5 / CSS3 (Grid &amp; Flexbox)</a:t>
            </a:r>
          </a:p>
          <a:p>
            <a:pPr lvl="1">
              <a:spcAft>
                <a:spcPts val="800"/>
              </a:spcAft>
              <a:defRPr sz="1600"/>
            </a:pPr>
            <a:r>
              <a:t>• JavaScript ES6+ Vanilla</a:t>
            </a:r>
          </a:p>
          <a:p>
            <a:pPr lvl="1">
              <a:spcAft>
                <a:spcPts val="800"/>
              </a:spcAft>
              <a:defRPr sz="1600"/>
            </a:pPr>
            <a:r>
              <a:t>• WebSocket temps réel</a:t>
            </a:r>
          </a:p>
          <a:p>
            <a:pPr lvl="1">
              <a:spcAft>
                <a:spcPts val="800"/>
              </a:spcAft>
              <a:defRPr sz="1600"/>
            </a:pPr>
            <a:r>
              <a:t>• Architecture SPA (Single Page Application)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Infrastructure:</a:t>
            </a:r>
          </a:p>
          <a:p>
            <a:pPr lvl="1">
              <a:spcAft>
                <a:spcPts val="800"/>
              </a:spcAft>
              <a:defRPr sz="1600"/>
            </a:pPr>
            <a:r>
              <a:t>• 9 tables PostgreSQL normalisées</a:t>
            </a:r>
          </a:p>
          <a:p>
            <a:pPr lvl="1">
              <a:spcAft>
                <a:spcPts val="800"/>
              </a:spcAft>
              <a:defRPr sz="1600"/>
            </a:pPr>
            <a:r>
              <a:t>• 50+ endpoints REST API</a:t>
            </a:r>
          </a:p>
          <a:p>
            <a:pPr lvl="1">
              <a:spcAft>
                <a:spcPts val="800"/>
              </a:spcAft>
              <a:defRPr sz="1600"/>
            </a:pPr>
            <a:r>
              <a:t>• WebSocket pour synchronisation temps réel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Structure du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smarthome/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├── smarthome/tornado_app/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models.py              # 9 modèles SQLAlchemy (User, House, Sensor...)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database.py            # Configuration PostgreSQL async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auth.py                # Authentification bcrypt + JWT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app.py                 # Serveur Tornado + Routes (50+ endpoints)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handlers/              # 15 handlers REST API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users_api.py       # Auth, profil, upload photo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houses_api.py      # CRUD maisons/pièces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sensors.py         # 4 types capteurs IoT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equipments.py      # 4 types équipements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automation_rules.py # Règles conditionnelles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house_members.py   # Invitations, rôles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├── event_history.py   # Journalisation complète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└── websocket.py       # Temps réel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services/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   └── weather_service.py # API Open-Meteo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│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└── utils/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    ├── grid_layers.py     # Système grille maison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    └── permissions.py     # Gestion permissions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├── static/app/                # Frontend SPA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dashboard.html         # Liste maisons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house.html             # Détails maison + contrôles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├── house.js               # Logique (2200+ lignes)</a:t>
            </a:r>
          </a:p>
          <a:p>
            <a:pPr>
              <a:spcAft>
                <a:spcPts val="400"/>
              </a:spcAft>
              <a:defRPr sz="1200">
                <a:latin typeface="Consolas"/>
              </a:defRPr>
            </a:pPr>
            <a:r>
              <a:t>│   └── profile.html           # Profil utilisateur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Backend: Modèles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# models.py - SQLAlchemy 2.0 (Async)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User(Base):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__tablename__ = 'users'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id = Column(Integer, primary_key=True)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username = Column(String(80), unique=True, nullable=False)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email = Column(String(120), unique=True, nullable=False)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password_hash = Column(String(255))  # bcrypt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phone_number = Column(String(20))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profile_image = Column(String(255))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created_at = Column(DateTime, default=datetime.utcnow)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Sensor(Base):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__tablename__ = 'sensors'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id = Column(Integer, primary_key=True)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house_id = Column(Integer, ForeignKey('houses.id', ondelete='CASCADE'))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name = Column(String(100), nullable=False)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type = Column(String(50))  # temperature, luminosity, rain, presence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value = Column(Float, default=0.0)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unit = Column(String(20))  # °C, lux, %, boolean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is_active = Column(Boolean, default=True)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AutomationRule(Base):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__tablename__ = 'automation_rules'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id = Column(Integer, primary_key=True)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sensor_id = Column(Integer, ForeignKey('sensors.id'))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condition_operator = Column(String(10))  # &gt;, &lt;, &gt;=, &lt;=, ==, !=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condition_value = Column(Float)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equipment_id = Column(Integer, ForeignKey('equipments.id'))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action_state = Column(String(20))  # on, off, open, closed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is_active = Column(Boolean, default=True)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Backend: API REST (50+ Endpoints)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# handlers/users_api.py - Authentification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LoginAPIHandler(BaseAPIHandler):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async def post(self):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data = json.loads(self.request.body)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username = data.get('username')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password = data.get('password')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async with async_session_maker() as session: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result = await session.execute(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select(User).where(User.username == username)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user = result.scalar_one_or_none()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if user and verify_password(password, user.password_hash):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self.set_secure_cookie("uid", str(user.id))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self.write_json({"user": {...}})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# handlers/automation.py - Règles B2B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AutomationTriggerHandler(BaseAPIHandler):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async def post(self):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async with async_session_maker() as session: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# Récupérer règles actives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rules = await session.execute(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select(AutomationRule).where(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    AutomationRule.is_active == True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for rule in rules.scalars():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# Évaluer condition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if self._evaluate_condition(sensor.value,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    rule.condition_operator, rule.condition_value):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    # Exécuter action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    equipment.state = rule.action_state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    await session.commit()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WebSocket Temps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# handlers/websocket.py - Synchronisation temps réel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class RealtimeHandler(tornado.websocket.WebSocketHandler):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clients: Set["RealtimeHandler"] = set()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def open(self):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user_id = self.get_current_user()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RealtimeHandler.clients.add(self)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print(f"Client connecté: {user_id}, Total: {len(self.clients)}")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@classmethod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def broadcast_sensor_update(cls, sensor_id, value, house_id):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message = json.dumps({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"type": "sensor_update",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"house_id": house_id,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"data": {"id": sensor_id, "value": value}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})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for client in cls.clients: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try: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client.write_message(message)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except Exception as e: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print(f"Erreur broadcast: {e}")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# Frontend: realtime.js - Client WebSocket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function connectWebSocket()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const ws = new WebSocket(`ws://localhost:8001/ws/${houseId}`);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ws.onmessage = (event) =&gt;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const data = JSON.parse(event.data);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if (data.type === 'sensor_update')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updateSensorDisplay(data.data);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} else if (data.type === 'equipment_update')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updateEquipmentDisplay(data.data);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};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Frontend: JavaScript (house.js)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// house.js - Logique page maison (2200+ lignes)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// Chargement capteurs avec tri stable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async function loadSensors()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const response = await fetch('/api/sensors');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const data = await response.json();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sensors = data.sensors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.filter(s =&gt; s.house_id === parseInt(houseId))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.sort((a, b) =&gt; a.id - b.id);  // Ordre stable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displaySensors();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  <a:latin typeface="Consolas"/>
              </a:defRPr>
            </a:pPr>
            <a:r>
              <a:t>// Affichage grille interactive avec icônes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function displayHouseGrid()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const grid = house.grid;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let html = '&lt;table&gt;';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for (let i = 0; i &lt; grid.length; i++)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html += '&lt;tr&gt;';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for (let j = 0; j &lt; grid[i].length; j++) {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const cell = grid[i][j];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const baseValue = getCellBase(cell);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const sensors = getCellSensors(cell);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const equipments = getCellEquipments(cell);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// Afficher pièce + capteurs + équipements + utilisateurs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html += `&lt;td onclick="handleCellClick(${j}, ${i})"&gt;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${renderRoomName(baseValue)}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${renderSensorIcons(sensors)}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${renderEquipmentIcons(equipments)}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    ${renderUserAvatars(i, j)}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    &lt;/td&gt;`;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    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    gridContainer.innerHTML = html;</a:t>
            </a:r>
          </a:p>
          <a:p>
            <a:pPr>
              <a:spcAft>
                <a:spcPts val="200"/>
              </a:spcAft>
              <a:defRPr sz="11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Base de Données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9 Tables Normalisées: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users (1) ─── (N) houses (1) ─┬─ (N) rooms</a:t>
            </a:r>
          </a:p>
          <a:p>
            <a:pPr>
              <a:defRPr sz="1200"/>
            </a:pPr>
            <a:r>
              <a:t>                               ├─ (N) sensors</a:t>
            </a:r>
          </a:p>
          <a:p>
            <a:pPr>
              <a:defRPr sz="1200"/>
            </a:pPr>
            <a:r>
              <a:t>                               ├─ (N) equipments</a:t>
            </a:r>
          </a:p>
          <a:p>
            <a:pPr>
              <a:defRPr sz="1200"/>
            </a:pPr>
            <a:r>
              <a:t>                               ├─ (N) automation_rules</a:t>
            </a:r>
          </a:p>
          <a:p>
            <a:pPr>
              <a:defRPr sz="1200"/>
            </a:pPr>
            <a:r>
              <a:t>                               ├─ (N) house_members</a:t>
            </a:r>
          </a:p>
          <a:p>
            <a:pPr>
              <a:defRPr sz="1200"/>
            </a:pPr>
            <a:r>
              <a:t>                               ├─ (N) event_history</a:t>
            </a:r>
          </a:p>
          <a:p>
            <a:pPr>
              <a:defRPr sz="1200"/>
            </a:pPr>
            <a:r>
              <a:t>                               └─ (N) user_positions</a:t>
            </a:r>
          </a:p>
          <a:p>
            <a:pPr>
              <a:defRPr sz="1200"/>
            </a:pP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Requête Complexe (Jointures multiples):</a:t>
            </a:r>
          </a:p>
          <a:p>
            <a:pPr>
              <a:defRPr sz="1200"/>
            </a:pPr>
          </a:p>
          <a:p>
            <a:pPr>
              <a:defRPr sz="1000">
                <a:latin typeface="Consolas"/>
              </a:defRPr>
            </a:pPr>
            <a:r>
              <a:t>SELECT </a:t>
            </a:r>
          </a:p>
          <a:p>
            <a:pPr>
              <a:defRPr sz="1200"/>
            </a:pPr>
            <a:r>
              <a:t>    h.name AS house,</a:t>
            </a:r>
          </a:p>
          <a:p>
            <a:pPr>
              <a:defRPr sz="1200"/>
            </a:pPr>
            <a:r>
              <a:t>    COUNT(DISTINCT s.id) AS sensors,</a:t>
            </a:r>
          </a:p>
          <a:p>
            <a:pPr>
              <a:defRPr sz="1200"/>
            </a:pPr>
            <a:r>
              <a:t>    COUNT(DISTINCT e.id) AS equipments,</a:t>
            </a:r>
          </a:p>
          <a:p>
            <a:pPr>
              <a:defRPr sz="1200"/>
            </a:pPr>
            <a:r>
              <a:t>    COUNT(DISTINCT ar.id) AS rules,</a:t>
            </a:r>
          </a:p>
          <a:p>
            <a:pPr>
              <a:defRPr sz="1200"/>
            </a:pPr>
            <a:r>
              <a:t>    COUNT(DISTINCT eh.id) AS events</a:t>
            </a:r>
          </a:p>
          <a:p>
            <a:pPr>
              <a:defRPr sz="1000">
                <a:latin typeface="Consolas"/>
              </a:defRPr>
            </a:pPr>
            <a:r>
              <a:t>FROM houses h</a:t>
            </a:r>
          </a:p>
          <a:p>
            <a:pPr>
              <a:defRPr sz="1200"/>
            </a:pPr>
            <a:r>
              <a:t>LEFT JOIN sensors s ON s.house_id = h.id</a:t>
            </a:r>
          </a:p>
          <a:p>
            <a:pPr>
              <a:defRPr sz="1200"/>
            </a:pPr>
            <a:r>
              <a:t>LEFT JOIN equipments e ON e.house_id = h.id</a:t>
            </a:r>
          </a:p>
          <a:p>
            <a:pPr>
              <a:defRPr sz="1200"/>
            </a:pPr>
            <a:r>
              <a:t>LEFT JOIN automation_rules ar ON ar.house_id = h.id</a:t>
            </a:r>
          </a:p>
          <a:p>
            <a:pPr>
              <a:defRPr sz="1200"/>
            </a:pPr>
            <a:r>
              <a:t>LEFT JOIN event_history eh ON eh.house_id = h.id</a:t>
            </a:r>
          </a:p>
          <a:p>
            <a:pPr>
              <a:defRPr sz="1200"/>
            </a:pPr>
            <a:r>
              <a:t>WHERE h.id = 1</a:t>
            </a:r>
          </a:p>
          <a:p>
            <a:pPr>
              <a:defRPr sz="1200"/>
            </a:pPr>
            <a:r>
              <a:t>GROUP BY h.id, h.name;</a:t>
            </a:r>
          </a:p>
          <a:p>
            <a:pPr>
              <a:defRPr sz="1200"/>
            </a:pP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Contraintes d'Intégrité:</a:t>
            </a:r>
          </a:p>
          <a:p>
            <a:pPr>
              <a:defRPr sz="1200"/>
            </a:pPr>
            <a:r>
              <a:t>• Foreign Keys avec CASCADE DELETE</a:t>
            </a:r>
          </a:p>
          <a:p>
            <a:pPr>
              <a:defRPr sz="1200"/>
            </a:pPr>
            <a:r>
              <a:t>• Indexes sur colonnes fréquentes</a:t>
            </a:r>
          </a:p>
          <a:p>
            <a:pPr>
              <a:defRPr sz="1200"/>
            </a:pPr>
            <a:r>
              <a:t>• JSONB pour grilles et metadata</a:t>
            </a:r>
          </a:p>
          <a:p>
            <a:pPr>
              <a:defRPr sz="1200"/>
            </a:pPr>
            <a:r>
              <a:t>• Timestamps automatiques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Authentification &amp; Sécurité:</a:t>
            </a:r>
          </a:p>
          <a:p>
            <a:pPr lvl="1">
              <a:spcAft>
                <a:spcPts val="600"/>
              </a:spcAft>
              <a:defRPr sz="1300"/>
            </a:pPr>
            <a:r>
              <a:t>• Hachage bcrypt avec salt automatique</a:t>
            </a:r>
          </a:p>
          <a:p>
            <a:pPr lvl="1">
              <a:spcAft>
                <a:spcPts val="600"/>
              </a:spcAft>
              <a:defRPr sz="1300"/>
            </a:pPr>
            <a:r>
              <a:t>• Cookies HTTPOnly sécurisés</a:t>
            </a:r>
          </a:p>
          <a:p>
            <a:pPr lvl="1">
              <a:spcAft>
                <a:spcPts val="600"/>
              </a:spcAft>
              <a:defRPr sz="1300"/>
            </a:pPr>
            <a:r>
              <a:t>• JWT optionnel pour API REST</a:t>
            </a:r>
          </a:p>
          <a:p>
            <a:pPr lvl="1">
              <a:spcAft>
                <a:spcPts val="600"/>
              </a:spcAft>
              <a:defRPr sz="1300"/>
            </a:pPr>
            <a:r>
              <a:t>• Upload images avec validation (5MB max)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IoT &amp; Automatisation:</a:t>
            </a:r>
          </a:p>
          <a:p>
            <a:pPr lvl="1">
              <a:spcAft>
                <a:spcPts val="600"/>
              </a:spcAft>
              <a:defRPr sz="1300"/>
            </a:pPr>
            <a:r>
              <a:t>• 4 types capteurs: Température, Luminosité, Pluie, Présence</a:t>
            </a:r>
          </a:p>
          <a:p>
            <a:pPr lvl="1">
              <a:spcAft>
                <a:spcPts val="600"/>
              </a:spcAft>
              <a:defRPr sz="1300"/>
            </a:pPr>
            <a:r>
              <a:t>• 4 types équipements: Volets, Portes, Lumières, Système sonore</a:t>
            </a:r>
          </a:p>
          <a:p>
            <a:pPr lvl="1">
              <a:spcAft>
                <a:spcPts val="600"/>
              </a:spcAft>
              <a:defRPr sz="1300"/>
            </a:pPr>
            <a:r>
              <a:t>• Règles conditionnelles (6 opérateurs: &gt;, &lt;, &gt;=, &lt;=, ==, !=)</a:t>
            </a:r>
          </a:p>
          <a:p>
            <a:pPr lvl="1">
              <a:spcAft>
                <a:spcPts val="600"/>
              </a:spcAft>
              <a:defRPr sz="1300"/>
            </a:pPr>
            <a:r>
              <a:t>• Déclenchement automatique basé capteurs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Multi-utilisateurs:</a:t>
            </a:r>
          </a:p>
          <a:p>
            <a:pPr lvl="1">
              <a:spcAft>
                <a:spcPts val="600"/>
              </a:spcAft>
              <a:defRPr sz="1300"/>
            </a:pPr>
            <a:r>
              <a:t>• Système d'invitations avec statut (pending/accepted/rejected)</a:t>
            </a:r>
          </a:p>
          <a:p>
            <a:pPr lvl="1">
              <a:spcAft>
                <a:spcPts val="600"/>
              </a:spcAft>
              <a:defRPr sz="1300"/>
            </a:pPr>
            <a:r>
              <a:t>• 2 rôles: Administrateur, Occupant</a:t>
            </a:r>
          </a:p>
          <a:p>
            <a:pPr lvl="1">
              <a:spcAft>
                <a:spcPts val="600"/>
              </a:spcAft>
              <a:defRPr sz="1300"/>
            </a:pPr>
            <a:r>
              <a:t>• Permissions granulaires par équipement</a:t>
            </a:r>
          </a:p>
          <a:p>
            <a:pPr lvl="1">
              <a:spcAft>
                <a:spcPts val="600"/>
              </a:spcAft>
              <a:defRPr sz="1300"/>
            </a:pPr>
            <a:r>
              <a:t>• Historique complet des actions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Temps Réel:</a:t>
            </a:r>
          </a:p>
          <a:p>
            <a:pPr lvl="1">
              <a:spcAft>
                <a:spcPts val="600"/>
              </a:spcAft>
              <a:defRPr sz="1300"/>
            </a:pPr>
            <a:r>
              <a:t>• WebSocket pour synchronisation instantanée</a:t>
            </a:r>
          </a:p>
          <a:p>
            <a:pPr lvl="1">
              <a:spcAft>
                <a:spcPts val="600"/>
              </a:spcAft>
              <a:defRPr sz="1300"/>
            </a:pPr>
            <a:r>
              <a:t>• 6 types de messages (sensor_update, equipment_update, etc.)</a:t>
            </a:r>
          </a:p>
          <a:p>
            <a:pPr lvl="1">
              <a:spcAft>
                <a:spcPts val="600"/>
              </a:spcAft>
              <a:defRPr sz="1300"/>
            </a:pPr>
            <a:r>
              <a:t>• Broadcast automatique à tous les clients</a:t>
            </a:r>
          </a:p>
          <a:p>
            <a:pPr lvl="1">
              <a:spcAft>
                <a:spcPts val="600"/>
              </a:spcAft>
              <a:defRPr sz="1300"/>
            </a:pPr>
            <a:r>
              <a:t>• Simulation mouvement avec positions utilisateurs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Services Externes:</a:t>
            </a:r>
          </a:p>
          <a:p>
            <a:pPr lvl="1">
              <a:spcAft>
                <a:spcPts val="600"/>
              </a:spcAft>
              <a:defRPr sz="1300"/>
            </a:pPr>
            <a:r>
              <a:t>• API Open-Meteo (météo temps réel)</a:t>
            </a:r>
          </a:p>
          <a:p>
            <a:pPr lvl="1">
              <a:spcAft>
                <a:spcPts val="600"/>
              </a:spcAft>
              <a:defRPr sz="1300"/>
            </a:pPr>
            <a:r>
              <a:t>• Géocodage automatique d'adresses</a:t>
            </a:r>
          </a:p>
          <a:p>
            <a:pPr lvl="1">
              <a:spcAft>
                <a:spcPts val="600"/>
              </a:spcAft>
              <a:defRPr sz="1300"/>
            </a:pPr>
            <a:r>
              <a:t>• Estimation luminosité selon météo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Points Techniques Avancés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563EB"/>
                </a:solidFill>
              </a:defRPr>
            </a:pPr>
            <a:r>
              <a:t>Architecture Asynchrone:</a:t>
            </a:r>
          </a:p>
          <a:p>
            <a:pPr lvl="1">
              <a:spcAft>
                <a:spcPts val="500"/>
              </a:spcAft>
              <a:defRPr sz="1200"/>
            </a:pPr>
            <a:r>
              <a:t>• Tornado async/await natif (pas de callback hell)</a:t>
            </a:r>
          </a:p>
          <a:p>
            <a:pPr lvl="1">
              <a:spcAft>
                <a:spcPts val="500"/>
              </a:spcAft>
              <a:defRPr sz="1200"/>
            </a:pPr>
            <a:r>
              <a:t>• SQLAlchemy 2.0 avec asyncpg (3x plus rapide que psycopg2)</a:t>
            </a:r>
          </a:p>
          <a:p>
            <a:pPr lvl="1">
              <a:spcAft>
                <a:spcPts val="500"/>
              </a:spcAft>
              <a:defRPr sz="1200"/>
            </a:pPr>
            <a:r>
              <a:t>• Toutes les opérations DB non-bloquantes</a:t>
            </a:r>
          </a:p>
          <a:p>
            <a:pPr lvl="1">
              <a:spcAft>
                <a:spcPts val="500"/>
              </a:spcAft>
              <a:defRPr sz="1200"/>
            </a:pPr>
            <a:r>
              <a:t>• Gestion concurrence avec contextes async</a:t>
            </a:r>
          </a:p>
          <a:p>
            <a:pPr>
              <a:spcAft>
                <a:spcPts val="500"/>
              </a:spcAft>
              <a:defRPr sz="1200"/>
            </a:pPr>
          </a:p>
          <a:p>
            <a:pPr>
              <a:spcAft>
                <a:spcPts val="500"/>
              </a:spcAft>
              <a:defRPr sz="1400" b="1">
                <a:solidFill>
                  <a:srgbClr val="2563EB"/>
                </a:solidFill>
              </a:defRPr>
            </a:pPr>
            <a:r>
              <a:t>Optimisations Performance:</a:t>
            </a:r>
          </a:p>
          <a:p>
            <a:pPr lvl="1">
              <a:spcAft>
                <a:spcPts val="500"/>
              </a:spcAft>
              <a:defRPr sz="1200"/>
            </a:pPr>
            <a:r>
              <a:t>• Tri stable des listes (évite réorganisation UI)</a:t>
            </a:r>
          </a:p>
          <a:p>
            <a:pPr lvl="1">
              <a:spcAft>
                <a:spcPts val="500"/>
              </a:spcAft>
              <a:defRPr sz="1200"/>
            </a:pPr>
            <a:r>
              <a:t>• Indexes sur colonnes fréquemment utilisées</a:t>
            </a:r>
          </a:p>
          <a:p>
            <a:pPr lvl="1">
              <a:spcAft>
                <a:spcPts val="500"/>
              </a:spcAft>
              <a:defRPr sz="1200"/>
            </a:pPr>
            <a:r>
              <a:t>• Cleanup automatique historique (limite 1000 événements)</a:t>
            </a:r>
          </a:p>
          <a:p>
            <a:pPr lvl="1">
              <a:spcAft>
                <a:spcPts val="500"/>
              </a:spcAft>
              <a:defRPr sz="1200"/>
            </a:pPr>
            <a:r>
              <a:t>• Pagination sur tous les endpoints de liste</a:t>
            </a:r>
          </a:p>
          <a:p>
            <a:pPr lvl="1">
              <a:spcAft>
                <a:spcPts val="500"/>
              </a:spcAft>
              <a:defRPr sz="1200"/>
            </a:pPr>
            <a:r>
              <a:t>• JSONB pour données flexibles (grilles maison)</a:t>
            </a:r>
          </a:p>
          <a:p>
            <a:pPr>
              <a:spcAft>
                <a:spcPts val="500"/>
              </a:spcAft>
              <a:defRPr sz="1200"/>
            </a:pPr>
          </a:p>
          <a:p>
            <a:pPr>
              <a:spcAft>
                <a:spcPts val="500"/>
              </a:spcAft>
              <a:defRPr sz="1400" b="1">
                <a:solidFill>
                  <a:srgbClr val="2563EB"/>
                </a:solidFill>
              </a:defRPr>
            </a:pPr>
            <a:r>
              <a:t>Gestion Erreurs:</a:t>
            </a:r>
          </a:p>
          <a:p>
            <a:pPr lvl="1">
              <a:spcAft>
                <a:spcPts val="500"/>
              </a:spcAft>
              <a:defRPr sz="1200"/>
            </a:pPr>
            <a:r>
              <a:t>• Try/catch complets sur toutes les opérations async</a:t>
            </a:r>
          </a:p>
          <a:p>
            <a:pPr lvl="1">
              <a:spcAft>
                <a:spcPts val="500"/>
              </a:spcAft>
              <a:defRPr sz="1200"/>
            </a:pPr>
            <a:r>
              <a:t>• Validation côté serveur (email, téléphone, fichiers)</a:t>
            </a:r>
          </a:p>
          <a:p>
            <a:pPr lvl="1">
              <a:spcAft>
                <a:spcPts val="500"/>
              </a:spcAft>
              <a:defRPr sz="1200"/>
            </a:pPr>
            <a:r>
              <a:t>• Messages d'erreur explicites JSON</a:t>
            </a:r>
          </a:p>
          <a:p>
            <a:pPr lvl="1">
              <a:spcAft>
                <a:spcPts val="500"/>
              </a:spcAft>
              <a:defRPr sz="1200"/>
            </a:pPr>
            <a:r>
              <a:t>• Logging console pour debugging</a:t>
            </a:r>
          </a:p>
          <a:p>
            <a:pPr>
              <a:spcAft>
                <a:spcPts val="500"/>
              </a:spcAft>
              <a:defRPr sz="1200"/>
            </a:pPr>
          </a:p>
          <a:p>
            <a:pPr>
              <a:spcAft>
                <a:spcPts val="500"/>
              </a:spcAft>
              <a:defRPr sz="1400" b="1">
                <a:solidFill>
                  <a:srgbClr val="2563EB"/>
                </a:solidFill>
              </a:defRPr>
            </a:pPr>
            <a:r>
              <a:t>Code Quality:</a:t>
            </a:r>
          </a:p>
          <a:p>
            <a:pPr lvl="1">
              <a:spcAft>
                <a:spcPts val="500"/>
              </a:spcAft>
              <a:defRPr sz="1200"/>
            </a:pPr>
            <a:r>
              <a:t>• Black formatter (120 caractères max)</a:t>
            </a:r>
          </a:p>
          <a:p>
            <a:pPr lvl="1">
              <a:spcAft>
                <a:spcPts val="500"/>
              </a:spcAft>
              <a:defRPr sz="1200"/>
            </a:pPr>
            <a:r>
              <a:t>• Flake8 linter configuré</a:t>
            </a:r>
          </a:p>
          <a:p>
            <a:pPr lvl="1">
              <a:spcAft>
                <a:spcPts val="500"/>
              </a:spcAft>
              <a:defRPr sz="1200"/>
            </a:pPr>
            <a:r>
              <a:t>• Type hints Python partout</a:t>
            </a:r>
          </a:p>
          <a:p>
            <a:pPr lvl="1">
              <a:spcAft>
                <a:spcPts val="500"/>
              </a:spcAft>
              <a:defRPr sz="1200"/>
            </a:pPr>
            <a:r>
              <a:t>• Docstrings complètes en anglais</a:t>
            </a:r>
          </a:p>
          <a:p>
            <a:pPr lvl="1">
              <a:spcAft>
                <a:spcPts val="500"/>
              </a:spcAft>
              <a:defRPr sz="1200"/>
            </a:pPr>
            <a:r>
              <a:t>• Architecture MVC claire (Models, Handlers, Services)</a:t>
            </a:r>
          </a:p>
          <a:p>
            <a:pPr>
              <a:spcAft>
                <a:spcPts val="500"/>
              </a:spcAft>
              <a:defRPr sz="1200"/>
            </a:pPr>
          </a:p>
          <a:p>
            <a:pPr>
              <a:spcAft>
                <a:spcPts val="500"/>
              </a:spcAft>
              <a:defRPr sz="1400" b="1">
                <a:solidFill>
                  <a:srgbClr val="2563EB"/>
                </a:solidFill>
              </a:defRPr>
            </a:pPr>
            <a:r>
              <a:t>Tests &amp; Documentation:</a:t>
            </a:r>
          </a:p>
          <a:p>
            <a:pPr lvl="1">
              <a:spcAft>
                <a:spcPts val="500"/>
              </a:spcAft>
              <a:defRPr sz="1200"/>
            </a:pPr>
            <a:r>
              <a:t>• 5 fichiers markdown (5000+ lignes)</a:t>
            </a:r>
          </a:p>
          <a:p>
            <a:pPr lvl="1">
              <a:spcAft>
                <a:spcPts val="500"/>
              </a:spcAft>
              <a:defRPr sz="1200"/>
            </a:pPr>
            <a:r>
              <a:t>• API_DOCUMENTATION.md (50+ endpoints)</a:t>
            </a:r>
          </a:p>
          <a:p>
            <a:pPr lvl="1">
              <a:spcAft>
                <a:spcPts val="500"/>
              </a:spcAft>
              <a:defRPr sz="1200"/>
            </a:pPr>
            <a:r>
              <a:t>• DEMONSTRATION_GUIDE.md (plan démo détaillé)</a:t>
            </a:r>
          </a:p>
          <a:p>
            <a:pPr lvl="1">
              <a:spcAft>
                <a:spcPts val="500"/>
              </a:spcAft>
              <a:defRPr sz="1200"/>
            </a:pPr>
            <a:r>
              <a:t>• PROJECT_REQUIREMENTS.md (conformité 35/35 points)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Statistiques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Code Backend (Python):</a:t>
            </a:r>
          </a:p>
          <a:p>
            <a:pPr lvl="1">
              <a:spcAft>
                <a:spcPts val="1000"/>
              </a:spcAft>
              <a:defRPr sz="1600"/>
            </a:pPr>
            <a:r>
              <a:t>• 29 fichiers Python</a:t>
            </a:r>
          </a:p>
          <a:p>
            <a:pPr lvl="1">
              <a:spcAft>
                <a:spcPts val="1000"/>
              </a:spcAft>
              <a:defRPr sz="1600"/>
            </a:pPr>
            <a:r>
              <a:t>• 5,772 lignes de code</a:t>
            </a:r>
          </a:p>
          <a:p>
            <a:pPr lvl="1">
              <a:spcAft>
                <a:spcPts val="1000"/>
              </a:spcAft>
              <a:defRPr sz="1600"/>
            </a:pPr>
            <a:r>
              <a:t>• 15 handlers REST API</a:t>
            </a:r>
          </a:p>
          <a:p>
            <a:pPr lvl="1">
              <a:spcAft>
                <a:spcPts val="1000"/>
              </a:spcAft>
              <a:defRPr sz="1600"/>
            </a:pPr>
            <a:r>
              <a:t>• 9 modèles SQLAlchemy</a:t>
            </a:r>
          </a:p>
          <a:p>
            <a:pPr lvl="1">
              <a:spcAft>
                <a:spcPts val="1000"/>
              </a:spcAft>
              <a:defRPr sz="1600"/>
            </a:pPr>
            <a:r>
              <a:t>• 3 services (météo, grille, permissions)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Code Frontend (HTML/CSS/JS):</a:t>
            </a:r>
          </a:p>
          <a:p>
            <a:pPr lvl="1">
              <a:spcAft>
                <a:spcPts val="1000"/>
              </a:spcAft>
              <a:defRPr sz="1600"/>
            </a:pPr>
            <a:r>
              <a:t>• 21 fichiers frontend</a:t>
            </a:r>
          </a:p>
          <a:p>
            <a:pPr lvl="1">
              <a:spcAft>
                <a:spcPts val="1000"/>
              </a:spcAft>
              <a:defRPr sz="1600"/>
            </a:pPr>
            <a:r>
              <a:t>• house.js: 2,239 lignes (logique principale)</a:t>
            </a:r>
          </a:p>
          <a:p>
            <a:pPr lvl="1">
              <a:spcAft>
                <a:spcPts val="1000"/>
              </a:spcAft>
              <a:defRPr sz="1600"/>
            </a:pPr>
            <a:r>
              <a:t>• 10 pages HTML (SPA)</a:t>
            </a:r>
          </a:p>
          <a:p>
            <a:pPr lvl="1">
              <a:spcAft>
                <a:spcPts val="1000"/>
              </a:spcAft>
              <a:defRPr sz="1600"/>
            </a:pPr>
            <a:r>
              <a:t>• CSS modulaire par composant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Documentation:</a:t>
            </a:r>
          </a:p>
          <a:p>
            <a:pPr lvl="1">
              <a:spcAft>
                <a:spcPts val="1000"/>
              </a:spcAft>
              <a:defRPr sz="1600"/>
            </a:pPr>
            <a:r>
              <a:t>• 5 fichiers markdown</a:t>
            </a:r>
          </a:p>
          <a:p>
            <a:pPr lvl="1">
              <a:spcAft>
                <a:spcPts val="1000"/>
              </a:spcAft>
              <a:defRPr sz="1600"/>
            </a:pPr>
            <a:r>
              <a:t>• 5,057 lignes de documentation</a:t>
            </a:r>
          </a:p>
          <a:p>
            <a:pPr lvl="1">
              <a:spcAft>
                <a:spcPts val="1000"/>
              </a:spcAft>
              <a:defRPr sz="1600"/>
            </a:pPr>
            <a:r>
              <a:t>• API complète documentée</a:t>
            </a:r>
          </a:p>
          <a:p>
            <a:pPr lvl="1">
              <a:spcAft>
                <a:spcPts val="1000"/>
              </a:spcAft>
              <a:defRPr sz="1600"/>
            </a:pPr>
            <a:r>
              <a:t>• Guide de démonstration détaillé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Base de Données:</a:t>
            </a:r>
          </a:p>
          <a:p>
            <a:pPr lvl="1">
              <a:spcAft>
                <a:spcPts val="1000"/>
              </a:spcAft>
              <a:defRPr sz="1600"/>
            </a:pPr>
            <a:r>
              <a:t>• 9 tables normalisées</a:t>
            </a:r>
          </a:p>
          <a:p>
            <a:pPr lvl="1">
              <a:spcAft>
                <a:spcPts val="1000"/>
              </a:spcAft>
              <a:defRPr sz="1600"/>
            </a:pPr>
            <a:r>
              <a:t>• 50+ endpoints REST API</a:t>
            </a:r>
          </a:p>
          <a:p>
            <a:pPr lvl="1">
              <a:spcAft>
                <a:spcPts val="1000"/>
              </a:spcAft>
              <a:defRPr sz="1600"/>
            </a:pPr>
            <a:r>
              <a:t>• Relations complexes (1:N, N:M)</a:t>
            </a:r>
          </a:p>
          <a:p>
            <a:pPr lvl="1">
              <a:spcAft>
                <a:spcPts val="1000"/>
              </a:spcAft>
              <a:defRPr sz="1600"/>
            </a:pPr>
            <a:r>
              <a:t>• Support JSONB pour flexibilité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563EB"/>
                </a:solidFill>
              </a:defRPr>
            </a:pPr>
            <a:r>
              <a:t>Conformité Cahier des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Fonctionnalités Internes (25/25 points):</a:t>
            </a:r>
          </a:p>
          <a:p>
            <a:pPr lvl="1">
              <a:spcAft>
                <a:spcPts val="800"/>
              </a:spcAft>
              <a:defRPr sz="1400"/>
            </a:pPr>
            <a:r>
              <a:t>• Gestion utilisateurs: 6/6 (auth, profil, photo)</a:t>
            </a:r>
          </a:p>
          <a:p>
            <a:pPr lvl="1">
              <a:spcAft>
                <a:spcPts val="800"/>
              </a:spcAft>
              <a:defRPr sz="1400"/>
            </a:pPr>
            <a:r>
              <a:t>• Gestion maison: 8/8 (CRUD, pièces, capteurs, équipements, membres)</a:t>
            </a:r>
          </a:p>
          <a:p>
            <a:pPr lvl="1">
              <a:spcAft>
                <a:spcPts val="800"/>
              </a:spcAft>
              <a:defRPr sz="1400"/>
            </a:pPr>
            <a:r>
              <a:t>• Capteurs &amp; équipements: 6/6 (4 types chaque, APIs dédiées)</a:t>
            </a:r>
          </a:p>
          <a:p>
            <a:pPr lvl="1">
              <a:spcAft>
                <a:spcPts val="800"/>
              </a:spcAft>
              <a:defRPr sz="1400"/>
            </a:pPr>
            <a:r>
              <a:t>• Interface client: 3/3 (dashboard, contrôles, météo, historique)</a:t>
            </a:r>
          </a:p>
          <a:p>
            <a:pPr lvl="1">
              <a:spcAft>
                <a:spcPts val="800"/>
              </a:spcAft>
              <a:defRPr sz="1400"/>
            </a:pPr>
            <a:r>
              <a:t>• Service live: 2/2 (WebSocket temps réel)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Fonctionnalités Externes (5/5 points):</a:t>
            </a:r>
          </a:p>
          <a:p>
            <a:pPr lvl="1">
              <a:spcAft>
                <a:spcPts val="800"/>
              </a:spcAft>
              <a:defRPr sz="1400"/>
            </a:pPr>
            <a:r>
              <a:t>• API météo Open-Meteo intégrée</a:t>
            </a:r>
          </a:p>
          <a:p>
            <a:pPr lvl="1">
              <a:spcAft>
                <a:spcPts val="800"/>
              </a:spcAft>
              <a:defRPr sz="1400"/>
            </a:pPr>
            <a:r>
              <a:t>• Géocodage automatique d'adresses</a:t>
            </a:r>
          </a:p>
          <a:p>
            <a:pPr lvl="1">
              <a:spcAft>
                <a:spcPts val="800"/>
              </a:spcAft>
              <a:defRPr sz="1400"/>
            </a:pPr>
            <a:r>
              <a:t>• Gestion erreurs complète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Système d'Information (5/5 points):</a:t>
            </a:r>
          </a:p>
          <a:p>
            <a:pPr lvl="1">
              <a:spcAft>
                <a:spcPts val="800"/>
              </a:spcAft>
              <a:defRPr sz="1400"/>
            </a:pPr>
            <a:r>
              <a:t>• 9 tables PostgreSQL normalisées</a:t>
            </a:r>
          </a:p>
          <a:p>
            <a:pPr lvl="1">
              <a:spcAft>
                <a:spcPts val="800"/>
              </a:spcAft>
              <a:defRPr sz="1400"/>
            </a:pPr>
            <a:r>
              <a:t>• Foreign keys avec contraintes</a:t>
            </a:r>
          </a:p>
          <a:p>
            <a:pPr lvl="1">
              <a:spcAft>
                <a:spcPts val="800"/>
              </a:spcAft>
              <a:defRPr sz="1400"/>
            </a:pPr>
            <a:r>
              <a:t>• Requêtes complexes avec jointures</a:t>
            </a:r>
          </a:p>
          <a:p>
            <a:pPr lvl="1">
              <a:spcAft>
                <a:spcPts val="800"/>
              </a:spcAft>
              <a:defRPr sz="1400"/>
            </a:pPr>
            <a:r>
              <a:t>• Indexes pour performance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 b="1">
                <a:solidFill>
                  <a:srgbClr val="22C55E"/>
                </a:solidFill>
              </a:defRPr>
            </a:pPr>
            <a:r>
              <a:t>TOTAL: 35/35 POINTS ✓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Bonus Implémentés:</a:t>
            </a:r>
          </a:p>
          <a:p>
            <a:pPr lvl="1">
              <a:spcAft>
                <a:spcPts val="800"/>
              </a:spcAft>
              <a:defRPr sz="1400"/>
            </a:pPr>
            <a:r>
              <a:t>• JWT pour API REST</a:t>
            </a:r>
          </a:p>
          <a:p>
            <a:pPr lvl="1">
              <a:spcAft>
                <a:spcPts val="800"/>
              </a:spcAft>
              <a:defRPr sz="1400"/>
            </a:pPr>
            <a:r>
              <a:t>• Middleware authentification centralisé</a:t>
            </a:r>
          </a:p>
          <a:p>
            <a:pPr lvl="1">
              <a:spcAft>
                <a:spcPts val="800"/>
              </a:spcAft>
              <a:defRPr sz="1400"/>
            </a:pPr>
            <a:r>
              <a:t>• Interface responsive mobile-friendly</a:t>
            </a:r>
          </a:p>
          <a:p>
            <a:pPr lvl="1">
              <a:spcAft>
                <a:spcPts val="800"/>
              </a:spcAft>
              <a:defRPr sz="1400"/>
            </a:pPr>
            <a:r>
              <a:t>• Éditeur graphique grille maison</a:t>
            </a:r>
          </a:p>
          <a:p>
            <a:pPr lvl="1">
              <a:spcAft>
                <a:spcPts val="800"/>
              </a:spcAft>
              <a:defRPr sz="1400"/>
            </a:pPr>
            <a:r>
              <a:t>• Système invitations avec notifications</a:t>
            </a:r>
          </a:p>
          <a:p>
            <a:pPr lvl="1">
              <a:spcAft>
                <a:spcPts val="800"/>
              </a:spcAft>
              <a:defRPr sz="1400"/>
            </a:pPr>
            <a:r>
              <a:t>• Code quality (Black, Flake8, type hints)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Projet complet et fonctionnel: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Architecture moderne et scalable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Code quality élevée (formaté, documenté, typé)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Performance optimisée (async, indexes, pagination)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Sécurité robuste (bcrypt, validation, permissions)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Interface utilisateur intuitive et responsive</a:t>
            </a:r>
          </a:p>
          <a:p>
            <a:pPr algn="l">
              <a:spcAft>
                <a:spcPts val="800"/>
              </a:spcAft>
              <a:defRPr sz="1600">
                <a:solidFill>
                  <a:srgbClr val="22C55E"/>
                </a:solidFill>
              </a:defRPr>
            </a:pPr>
            <a:r>
              <a:t>✓ Documentation exhaustive (5000+ lignes)</a:t>
            </a:r>
          </a:p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</a:p>
          <a:p>
            <a:pPr algn="l">
              <a:spcAft>
                <a:spcPts val="800"/>
              </a:spcAft>
              <a:defRPr sz="1600"/>
            </a:pPr>
            <a:r>
              <a:t>Technologies maîtrisées:</a:t>
            </a:r>
          </a:p>
          <a:p>
            <a:pPr algn="l">
              <a:spcAft>
                <a:spcPts val="800"/>
              </a:spcAft>
              <a:defRPr sz="1600"/>
            </a:pPr>
            <a:r>
              <a:t>Python • Tornado • PostgreSQL • SQLAlchemy</a:t>
            </a:r>
          </a:p>
          <a:p>
            <a:pPr algn="l">
              <a:spcAft>
                <a:spcPts val="800"/>
              </a:spcAft>
              <a:defRPr sz="1600" i="1">
                <a:solidFill>
                  <a:srgbClr val="64748B"/>
                </a:solidFill>
              </a:defRPr>
            </a:pPr>
            <a:r>
              <a:t>JavaScript • WebSocket • REST API • Async/Await</a:t>
            </a:r>
          </a:p>
          <a:p>
            <a:pPr algn="l">
              <a:spcAft>
                <a:spcPts val="800"/>
              </a:spcAft>
              <a:defRPr sz="1600"/>
            </a:pPr>
          </a:p>
          <a:p>
            <a:pPr algn="l">
              <a:spcAft>
                <a:spcPts val="800"/>
              </a:spcAft>
              <a:defRPr sz="1600"/>
            </a:pPr>
            <a:r>
              <a:t>GitHub: github.com/Devid-yl/smarthome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